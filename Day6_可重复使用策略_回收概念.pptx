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Day 6 交付presentation。基线来自 Day 1–4；外部来源见报告参考文献 [1]–[23]。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表：报告第1.2节 Table 1 的演示版。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来源：TechTimes 2026-06-12 / 2026-07-14（S-1 披露折旧 25 次、工程目标 40）；Wikipedia 复用开发计划（Musk 2020）。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评分准则：① 与 Day 3 发动机能力匹配；② 固定 600 t GLOM 下的飞行质量代价；③ 20 t SSO 任务几何适配；④ 技术就绪度；⑤ 翻修负担；⑥ 基础设施风险。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CSMonitor 2016（Musk 2013 记者会原文）；Falcon Heavy 侧助推返场+芯级抛弃约 10% 作对照 [6]。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表摘自 Day 4 §4.4/§5.6 并经本日复核；kinetic energy 由船端液压阻尼吸收。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NASASpaceFlight 2026-07-15 China update；Ars Technica 2024-10-13；19FortyFive 2026-07-12。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图为矢量示意图；状态量为 Falcon 9 / LM-10B 级锚点估计，本箭精确值待 Day 7。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Day 7 模型输出已回填（原锚点估计）；v1.1 校勘。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物理：燃尽助推器在最低节流附近 T/W≈1，无法稳定悬停（r/nasa 等运行社区分析 [22]，与 Day 2 内部记载一致）。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船端吸收 E∝v²；磨损靴/TPS 为耗材；捕获带局部等网格加强。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式（6.1）（6.2），报告第6节。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检查集合锚定现役实践：焊缝无损检测、涡轮预防更换、整机偶换、复飞前静态点火 [1][2]。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完整 F-1…F-10 与 V-1…V-8 见 Day 6 报告第 8 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详细论证与 23 项参考文献见《Day 6 可重复使用策略（回收概念）》最终版报告。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45720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协同设计暑期课程（11–20 July 2026）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607040" cy="1463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4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可重复使用策略</a:t>
            </a:r>
          </a:p>
          <a:p>
            <a:pPr algn="l">
              <a:spcAft>
                <a:spcPts val="200"/>
              </a:spcAft>
            </a:pPr>
            <a:r>
              <a:rPr sz="2600" b="0" i="0">
                <a:solidFill>
                  <a:srgbClr val="E8F2EC"/>
                </a:solidFill>
                <a:latin typeface="Microsoft YaHei"/>
                <a:ea typeface="Microsoft YaHei"/>
                <a:cs typeface="Microsoft YaHei"/>
              </a:rPr>
              <a:t>（回收概念 · Recovery Concept）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105156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动力垂直回收 · 远海网/绳捕获 · 复用护照 —— 面向 20 t SSO 任务的一级复用方案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526280"/>
            <a:ext cx="4480560" cy="1371600"/>
          </a:xfrm>
          <a:prstGeom prst="roundRect">
            <a:avLst>
              <a:gd name="adj" fmla="val 6000"/>
            </a:avLst>
          </a:prstGeom>
          <a:solidFill>
            <a:srgbClr val="1F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4681728"/>
            <a:ext cx="41148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Day 6 / 10 · 2026年7月16日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交付物：回收概念（Recovery Concept）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4526280"/>
            <a:ext cx="5852160" cy="1371600"/>
          </a:xfrm>
          <a:prstGeom prst="roundRect">
            <a:avLst>
              <a:gd name="adj" fmla="val 6000"/>
            </a:avLst>
          </a:prstGeom>
          <a:solidFill>
            <a:srgbClr val="1F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87568" y="4681728"/>
            <a:ext cx="5577840" cy="11887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技术基线：Day 1–4 工作包成果（需求 / Δv 预算 / 发动机 / 质量与架构）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外部锚点：长征十号B（2026-07-10）· 星舰 F5（2024-10-13）· Block 5 运营经济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263640"/>
            <a:ext cx="106070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 i="0">
                <a:solidFill>
                  <a:srgbClr val="9AA7B2"/>
                </a:solidFill>
                <a:latin typeface="Microsoft YaHei"/>
                <a:ea typeface="Microsoft YaHei"/>
                <a:cs typeface="Microsoft YaHei"/>
              </a:rPr>
              <a:t>说明：本档量化基础不含 Day 5 仿真产品（Day 7 校核结论：模型已由 Day 7 重建并完成校验）；估计值均已在文中标注方法与量级锚点｜v1.1（2026-07-17 校勘增补）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任务承接：来自 Day 1–4 的约束输入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Inputs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6 可重复使用策略（回收概念）· 2026-07-16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143000"/>
          <a:ext cx="11201398" cy="457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36295"/>
                <a:gridCol w="4223478"/>
                <a:gridCol w="1377221"/>
                <a:gridCol w="3764404"/>
              </a:tblGrid>
              <a:tr h="571500">
                <a:tc>
                  <a:txBody>
                    <a:bodyPr wrap="square"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输入项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采用值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在本日工作中的作用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任务剖面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20,000 kg 至太阳同步轨道（SSO）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Day 1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高能、高倾角 ⇒ 远海回收走廊（第3–5章）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成本与频次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 $30M/次；≥ 10 次/年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Day 1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决定寿命、周转与舰队目标（第13页）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回收 Δv 分配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再入 500–800 / 末段 200–300 m/s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Day 2 §2.3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第12页储备闭合的燃烧配额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发动机（Merlin 级）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845 kN（海平面）×9+1；节流 40–100%；可多次重启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Day 3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末段点火物理（第10页）、再入点火（第9页）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一级质量模型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干重 40 t；回收储备 18 t；回收硬件 5.5 t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Day 4 §5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储备闭合（式6.1）与捕获能量（E∝v²）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末端回收架构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混合式海上捕获：捕获环＋4捕获耳＋磨损靴＋最小缓冲垫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Day 4 §4.4–4.6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绑定决策（第6、11页）；着陆腿仅作备份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制导与传感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惯性/GNSS → 走廊控制 → 船端相对导航；FBG 复用护照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Day 4 §3.2/§8.2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终端制导与复飞认证（第13页）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02920" y="5870448"/>
            <a:ext cx="111556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依据声明：</a:t>
            </a:r>
            <a:r>
              <a:rPr sz="13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本日量化基础仅取 Day 1–4 成果与外部引用运行数据；Day 5 OpenRocket 产品待 Day 7 轨迹模型修复后回填精确状态量。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为什么复用：一级是发射成本的主体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Economics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6 可重复使用策略（回收概念）· 2026-07-16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88720"/>
            <a:ext cx="3611880" cy="1481328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16736"/>
            <a:ext cx="32918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60–75%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20240"/>
            <a:ext cx="329184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助推器占发射总成本的比例（2026 S-1 时代数据 [1]）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188720"/>
            <a:ext cx="3611880" cy="1481328"/>
          </a:xfrm>
          <a:prstGeom prst="roundRect">
            <a:avLst>
              <a:gd name="adj" fmla="val 6000"/>
            </a:avLst>
          </a:prstGeom>
          <a:solidFill>
            <a:srgbClr val="FB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316736"/>
            <a:ext cx="32918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~$30M ⇔ &lt;$30万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1920240"/>
            <a:ext cx="329184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新造一枚助推器 vs 翻修一枚回收助推器（&lt; 1%）[1][2]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47304" y="1188720"/>
            <a:ext cx="3611880" cy="1481328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0183" y="1316736"/>
            <a:ext cx="32918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≈$2,500/kg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0183" y="1920240"/>
            <a:ext cx="329184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复用后 LEO 单位成本：约 −75%（原 $9,000–10,000 级）[1]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2880360"/>
            <a:ext cx="3611880" cy="1481328"/>
          </a:xfrm>
          <a:prstGeom prst="roundRect">
            <a:avLst>
              <a:gd name="adj" fmla="val 6000"/>
            </a:avLst>
          </a:prstGeom>
          <a:solidFill>
            <a:srgbClr val="FB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008376"/>
            <a:ext cx="32918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157 / 165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611880"/>
            <a:ext cx="329184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2025 年 Falcon 9 任务中使用复飞助推器的次数（复用=默认）[2]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5112" y="2880360"/>
            <a:ext cx="3611880" cy="1481328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7992" y="3008376"/>
            <a:ext cx="32918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25 / 40 / 36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3611880"/>
            <a:ext cx="329184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会计折旧寿命 / 工程设计目标 / 现役纪录（B1067 飞行次数）[1][2]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47304" y="2880360"/>
            <a:ext cx="3611880" cy="1481328"/>
          </a:xfrm>
          <a:prstGeom prst="roundRect">
            <a:avLst>
              <a:gd name="adj" fmla="val 6000"/>
            </a:avLst>
          </a:prstGeom>
          <a:solidFill>
            <a:srgbClr val="FBEE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0183" y="3008376"/>
            <a:ext cx="3291840" cy="5486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5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第 2 次回本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0183" y="3611880"/>
            <a:ext cx="329184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翻修 &lt; 新造成本 10%；第 2 次飞行回本、第 3 次起净省 [4]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709160"/>
            <a:ext cx="11201400" cy="141732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846320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当前运营实践（锚定我们的检查与周转设计）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230368"/>
            <a:ext cx="1078992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翻修实践：</a:t>
            </a: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逐台发动机检查测试；储箱焊缝与压力容器超声/X 射线检测微裂纹；预防性更换涡轮；必要时整机更换；复飞前全箭静态点火 [1]</a:t>
            </a:r>
          </a:p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周转基准：</a:t>
            </a: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现役平均约 40 天，最优 &lt; 3 周 ⇒ 本项目目标：早期 ≤30 天、成熟 ≤14 天（第13页）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回收方法全景：六类技术路线对比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Trade study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6 可重复使用策略（回收概念）· 2026-07-16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143000"/>
          <a:ext cx="11201398" cy="5029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816"/>
                <a:gridCol w="1894354"/>
                <a:gridCol w="2965076"/>
                <a:gridCol w="1153085"/>
                <a:gridCol w="1976717"/>
                <a:gridCol w="2800350"/>
              </a:tblGrid>
              <a:tr h="718457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#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方法家族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代表案例（引用）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成熟度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优势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劣势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降落伞＋海上溅落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航天飞机 SRB；电子号海上回收 [7][8]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成熟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无需发动机重启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精度低；海水腐蚀是主要翻修负担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降落伞＋空中捕获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电子号直升机捕获（2022 短暂捕获后放弃）[7][9]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演示后弃用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避免海水接触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操作脆弱；仅 ~50% 任务可用（vs 海面 60–70%）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动力垂直·着陆腿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Falcon 9（600+ 次）；新格伦（2025-11 首落）[1][10]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成熟运营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轨道级验证最充分；海上/陆上两用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腿质量＋触地载荷；展开失效模式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动力垂直·塔臂捕获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星舰超重 F5（2024-10-13 首次即捕）[11][12]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已演示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取消腿质量；可“落地即复位”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需返场推进剂；失效危及地面设施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</a:tr>
              <a:tr h="718457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动力垂直·网/绳捕获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长征十号B（2026-07-10，世界首次）[13–16]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首次演示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取消腿质量；远海免返场；船端吸能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捕获载荷集中；海况约束；公开数据有限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</a:tr>
              <a:tr h="71845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带翼水平起降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航天飞机；X-37B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轨道级历史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大横向机动；回收环境温和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翼/起落架质量；研制成本最高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选择结论：动力垂直回收 · 远海模式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Selection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6 可重复使用策略（回收概念）· 2026-07-16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143000"/>
            <a:ext cx="11155680" cy="2103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4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推进匹配：</a:t>
            </a:r>
            <a:r>
              <a:rPr sz="14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Day 3 已选发动机天然具备深度节流（40–100%）与多次重启能力——只有动力回收能利用这些既有能力（降落伞/带翼均无法利用）；</a:t>
            </a:r>
          </a:p>
          <a:p>
            <a:pPr algn="l">
              <a:spcAft>
                <a:spcPts val="800"/>
              </a:spcAft>
            </a:pPr>
            <a:r>
              <a:rPr sz="14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4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任务几何：</a:t>
            </a:r>
            <a:r>
              <a:rPr sz="14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SSO 为高倾角高能任务，助推器天然远下程飞行，远海回收顺应弹道；</a:t>
            </a:r>
          </a:p>
          <a:p>
            <a:pPr algn="l">
              <a:spcAft>
                <a:spcPts val="800"/>
              </a:spcAft>
            </a:pPr>
            <a:r>
              <a:rPr sz="14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4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外部验证：</a:t>
            </a:r>
            <a:r>
              <a:rPr sz="14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动力垂直家族已有 &gt;600 次轨道级成功回收（腿式）＋ 2024 塔臂 ＋ 2026 网捕两次捕获演示 [1][10][11][13]；</a:t>
            </a:r>
          </a:p>
          <a:p>
            <a:pPr algn="l">
              <a:spcAft>
                <a:spcPts val="800"/>
              </a:spcAft>
            </a:pPr>
            <a:r>
              <a:rPr sz="14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4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战略延展：</a:t>
            </a:r>
            <a:r>
              <a:rPr sz="14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不依赖跑道/机场，与月面无跑道场景兼容（课程长期目标的工程一致性）。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310128"/>
            <a:ext cx="11201400" cy="45720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364992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决定性数字：回收模式的载荷处罚（SpaceX 公开数据 [5]）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950208"/>
            <a:ext cx="11201400" cy="173736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292608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远海（船降）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4590288"/>
            <a:ext cx="2834640" cy="384048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86200" y="4626864"/>
            <a:ext cx="2286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≈ 15%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138928"/>
            <a:ext cx="402336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返场（RTLS，含返场点火）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5504688"/>
            <a:ext cx="5669280" cy="38404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20840" y="5541264"/>
            <a:ext cx="22860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≈ 30%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4224528"/>
            <a:ext cx="411480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20,000 kg 载荷为 Day 1 不可谈判项 ——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双倍的性能处罚使返场在本任务级别被直接否决；远海为唯一可行模式。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末端构型决策：混合式海上捕获（绑定 Day 4 结论）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Terminal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6 可重复使用策略（回收概念）· 2026-07-16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188720"/>
          <a:ext cx="11201397" cy="2651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00175"/>
                <a:gridCol w="3788708"/>
                <a:gridCol w="1317811"/>
                <a:gridCol w="1153085"/>
                <a:gridCol w="1811991"/>
                <a:gridCol w="1729627"/>
              </a:tblGrid>
              <a:tr h="662940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构型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飞行硬件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回收硬件质量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回收储备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主要风险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着陆腿式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着陆腿＋栅格翼＋RCS＋TPS＋传感器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8,000 kg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24,000 kg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触地载荷；腿展开失效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5B667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成熟先例 → 保留为备份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纯网/绳捕获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捕获钩/耳＋栅格翼＋RCS＋TPS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&lt; 5,500 kg（估）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≈18,000 kg（估）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单点挂接即全失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5B667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不可作为唯一系统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混合捕获兼容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捕获环＋4捕获耳（磨损靴）＋栅格翼＋选择性TPS＋传感器＋最小缓冲垫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5,500 kg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18,000 kg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捕获载荷设计；船端阻尼系统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E0561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选定基线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4069080"/>
            <a:ext cx="11201400" cy="2057400"/>
          </a:xfrm>
          <a:prstGeom prst="roundRect">
            <a:avLst>
              <a:gd name="adj" fmla="val 6000"/>
            </a:avLst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224528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在固定 GLOM = 600,000 kg 下，混合捕获相对着陆腿备份方案：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645152"/>
            <a:ext cx="1078992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5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释放质量：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回收硬件 −2,500 kg、回收储备 −6,000 kg；</a:t>
            </a:r>
          </a:p>
          <a:p>
            <a:pPr algn="l">
              <a:spcAft>
                <a:spcPts val="5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再投资：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+5,000 kg 上升推进剂、+4,500 kg 干重增长裕度（Day 4 §5.6 闭合）；</a:t>
            </a:r>
          </a:p>
          <a:p>
            <a:pPr algn="l">
              <a:spcAft>
                <a:spcPts val="5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预算一致性：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远海合计低界 ≈0.8 km/s 的可实现性，正依赖船端承担末端支撑职能——这是捕获方案在预算层面的自我印证（第12页）。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外部验证锚点：捕获路线已被飞行证明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Flight heritage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6 可重复使用策略（回收概念）· 2026-07-16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43000"/>
            <a:ext cx="5486400" cy="379476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298448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长征十号B · 世界首次网捕（10 天前）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83080"/>
            <a:ext cx="5029200" cy="3017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50"/>
              </a:spcAft>
            </a:pPr>
            <a:r>
              <a:rPr sz="128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8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2026-07-10 04:15 UTC，文昌 LC-2 首飞 [13–16]</a:t>
            </a:r>
          </a:p>
          <a:p>
            <a:pPr algn="l">
              <a:spcAft>
                <a:spcPts val="450"/>
              </a:spcAft>
            </a:pPr>
            <a:r>
              <a:rPr sz="128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8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一级：7× YF-100K（液氧煤油，55 s 级燃烧后分离）</a:t>
            </a:r>
          </a:p>
          <a:p>
            <a:pPr algn="l">
              <a:spcAft>
                <a:spcPts val="450"/>
              </a:spcAft>
            </a:pPr>
            <a:r>
              <a:rPr sz="128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8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三发动机再入点火 → 四栅格翼受控再入</a:t>
            </a:r>
          </a:p>
          <a:p>
            <a:pPr algn="l">
              <a:spcAft>
                <a:spcPts val="450"/>
              </a:spcAft>
            </a:pPr>
            <a:r>
              <a:rPr sz="128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8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四只上置捕获钩挂入船端张紧钢索</a:t>
            </a:r>
          </a:p>
          <a:p>
            <a:pPr algn="l">
              <a:spcAft>
                <a:spcPts val="450"/>
              </a:spcAft>
            </a:pPr>
            <a:r>
              <a:rPr sz="128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8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分离后约 6 分钟完成捕获；船位远海 ≈430 km（南海）</a:t>
            </a:r>
          </a:p>
          <a:p>
            <a:pPr algn="l">
              <a:spcAft>
                <a:spcPts val="450"/>
              </a:spcAft>
            </a:pPr>
            <a:r>
              <a:rPr sz="128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8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“领航者号”：首个升高立体捕获架＋可动张紧钢索</a:t>
            </a:r>
          </a:p>
          <a:p>
            <a:pPr algn="l">
              <a:spcAft>
                <a:spcPts val="450"/>
              </a:spcAft>
            </a:pPr>
            <a:r>
              <a:rPr sz="128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8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CASC 计划：同一枚助推器 2026 年内复飞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143000"/>
            <a:ext cx="5486400" cy="379476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98448"/>
            <a:ext cx="512064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650" b="1" i="0">
                <a:solidFill>
                  <a:srgbClr val="2E5E8C"/>
                </a:solidFill>
                <a:latin typeface="Microsoft YaHei"/>
                <a:ea typeface="Microsoft YaHei"/>
                <a:cs typeface="Microsoft YaHei"/>
              </a:rPr>
              <a:t>星舰超重 F5/F7 · 塔臂捕获（2024–25）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783080"/>
            <a:ext cx="5029200" cy="3017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50"/>
              </a:spcAft>
            </a:pPr>
            <a:r>
              <a:rPr sz="128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8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F5（2024-10-13）：首次尝试即捕获成功 [11]</a:t>
            </a:r>
          </a:p>
          <a:p>
            <a:pPr algn="l">
              <a:spcAft>
                <a:spcPts val="450"/>
              </a:spcAft>
            </a:pPr>
            <a:r>
              <a:rPr sz="128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8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捕获前数千项箭/塔状态判据逐项确认</a:t>
            </a:r>
          </a:p>
          <a:p>
            <a:pPr algn="l">
              <a:spcAft>
                <a:spcPts val="450"/>
              </a:spcAft>
            </a:pPr>
            <a:r>
              <a:rPr sz="128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8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F7（2025-01-16）：一台发动机返场点火未复燃，捕获仍成功 [12]</a:t>
            </a:r>
          </a:p>
          <a:p>
            <a:pPr algn="l">
              <a:spcAft>
                <a:spcPts val="450"/>
              </a:spcAft>
            </a:pPr>
            <a:r>
              <a:rPr sz="128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8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动机（Musk）：取消着陆腿 = 减重 + 取消腿成本</a:t>
            </a:r>
          </a:p>
          <a:p>
            <a:pPr algn="l">
              <a:spcAft>
                <a:spcPts val="450"/>
              </a:spcAft>
            </a:pPr>
            <a:r>
              <a:rPr sz="128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8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“复位即复飞”：直接放回发射台，目标 1 小时内可复飞</a:t>
            </a:r>
          </a:p>
          <a:p>
            <a:pPr algn="l">
              <a:spcAft>
                <a:spcPts val="450"/>
              </a:spcAft>
            </a:pPr>
            <a:r>
              <a:rPr sz="128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28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差异：塔捕需返场推进剂；本方案为远海模式，选网/绳路线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5074920"/>
            <a:ext cx="11201400" cy="1051560"/>
          </a:xfrm>
          <a:prstGeom prst="roundRect">
            <a:avLst>
              <a:gd name="adj" fmla="val 6000"/>
            </a:avLst>
          </a:prstGeom>
          <a:solidFill>
            <a:srgbClr val="FBEEE6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193792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警示证据：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朱雀三号（2025-12-03）与长征十二号A（2025-12-23）均抵达回收区，但双双失利于</a:t>
            </a:r>
            <a:r>
              <a:rPr sz="1300" b="1" i="0">
                <a:solidFill>
                  <a:srgbClr val="C0392B"/>
                </a:solidFill>
                <a:latin typeface="Microsoft YaHei"/>
                <a:ea typeface="Microsoft YaHei"/>
                <a:cs typeface="Microsoft YaHei"/>
              </a:rPr>
              <a:t>末段点火异常</a:t>
            </a:r>
            <a:r>
              <a:rPr sz="110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 [14]</a:t>
            </a:r>
          </a:p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⇒ 末段点火的点火可靠性/行为位列本方案失效模式之首（F-1，第14页）。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回收飞行序列总览（七阶段）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Sequence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6 可重复使用策略（回收概念）· 2026-07-16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pic>
        <p:nvPicPr>
          <p:cNvPr id="9" name="Picture 8" descr="svg_recovery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464" y="1115568"/>
            <a:ext cx="9345168" cy="54068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阶段物理 ①：分离 → 惯性飞行 → 再入点火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Phases 1–3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6 可重复使用策略（回收概念）· 2026-07-16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152144"/>
          <a:ext cx="11201398" cy="3429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95225"/>
                <a:gridCol w="2256397"/>
                <a:gridCol w="2336982"/>
                <a:gridCol w="4512794"/>
              </a:tblGrid>
              <a:tr h="685800"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事件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时间量级（估）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状态量级（估）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物理要点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级间分离·翻转·沉降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T+0–60 s（分离 T+142 s，Day 7 模型）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≈66.5 km；1.89 km/s；γ≈41°（Day 7 模型）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冷气 RCS 翻转 180°；挡板/防涡器沉降残余推进剂保复点燃供给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惯性弹道飞行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T+约 4–6 min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顶点 ≈135 km（按分离态 v⊥≈1.23 km/s 复算）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h_apo = h_sep + v⊥²/2g；水平漂移 ≈1.4 km/s 决定船位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再入点火（3 台）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T+约 5–7 min，约 15–30 s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≈55→40 km；Δv 500–800 m/s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3×~60% 节流 ⇒ T/W≈2.7；峰值热/力载荷封顶；F9/LM-10B 同为 3 台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栅格翼气动下滑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T+约 6–8 min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高超声→亚声速；~250–300 m/s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钛翼耐 &gt;1,000℃ 免更换；走廊控制；转入船端相对导航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4773168"/>
            <a:ext cx="11201400" cy="146304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01184"/>
            <a:ext cx="10789920" cy="12801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锚点：</a:t>
            </a:r>
            <a:r>
              <a:rPr sz="11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复用型 Falcon 9 分离 ≈Mach 6 级（vs 抛弃型 Mach 10 级）[17][18]；GTO 剖面分离 ≈8,350 km/h [19]；LM-10B 三发动机再入点火 [14]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本箭模型值（Day 7 修复后）：</a:t>
            </a:r>
            <a:r>
              <a:rPr sz="11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分离 T+142 s / 66.5 km / 1,892 m/s / Mach 5.7 / γ=41° / 下程 51 km —— 回收 Δv 配额 0.8–1.2 km/s 与船位结论仍成立（敏感度：分离速度 −8%）</a:t>
            </a:r>
          </a:p>
          <a:p>
            <a:pPr algn="l">
              <a:spcAft>
                <a:spcPts val="300"/>
              </a:spcAft>
            </a:pPr>
            <a:r>
              <a:rPr sz="11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1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校勘声明：</a:t>
            </a:r>
            <a:r>
              <a:rPr sz="11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本表数值锚点已替换为 Day 7 校验模型输出；剩余验证项 = 再入/末段子段细化（V-4 蒙特卡洛，Day 7-8）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阶段物理 ②：末段点火与悬停猛击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Terminal burn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6 可重复使用策略（回收概念）· 2026-07-16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  <p:pic>
        <p:nvPicPr>
          <p:cNvPr id="9" name="Picture 8" descr="svg_hover_sl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7880" y="1188720"/>
            <a:ext cx="5897880" cy="386043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02920" y="1234440"/>
            <a:ext cx="5257800" cy="4206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悬停判据：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捕获前质量 ≈42–45 t ⇒ 重量 412–441 kN；单台 338–845 kN（40–100%）</a:t>
            </a:r>
          </a:p>
          <a:p>
            <a:pPr algn="l">
              <a:spcAft>
                <a:spcPts val="8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悬停所需节流 ≈49–52%：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恰落于不确定区间（文档下限 40% / 运行报道 ~50–57%）⇒ 不能依赖悬停</a:t>
            </a:r>
          </a:p>
          <a:p>
            <a:pPr algn="l">
              <a:spcAft>
                <a:spcPts val="8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基准机动 = 悬停猛击：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在点火窗口内启动，速度 ≤2 m/s 与高度归零同步；只允许向上补节流、到顶即关机</a:t>
            </a:r>
          </a:p>
          <a:p>
            <a:pPr algn="l">
              <a:spcAft>
                <a:spcPts val="8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失败包容弹道：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末段弹道偏置——发动机未点燃/欠推力时近船落海，不撞船</a:t>
            </a:r>
          </a:p>
          <a:p>
            <a:pPr algn="l">
              <a:spcAft>
                <a:spcPts val="800"/>
              </a:spcAft>
            </a:pPr>
            <a:r>
              <a:rPr sz="135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捕获接口目标：</a:t>
            </a:r>
            <a:r>
              <a:rPr sz="13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垂直速度 ≤2 m/s · 横向偏移 ≤5 m · 姿态误差 ≤3° · 角速度 ≤1°/s（工程目标，待验证 V-2/V-4）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捕获力学与结构负载路径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Capture mechanics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6 可重复使用策略（回收概念）· 2026-07-16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pic>
        <p:nvPicPr>
          <p:cNvPr id="9" name="Picture 8" descr="svg_catch_load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1115568"/>
            <a:ext cx="8814816" cy="540262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回收推进剂预算闭合（18 t 储备）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Δv closure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6 可重复使用策略（回收概念）· 2026-07-16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pic>
        <p:nvPicPr>
          <p:cNvPr id="9" name="Picture 8" descr="svg_reserve_clos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949440" cy="467507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0" y="1417320"/>
            <a:ext cx="3977639" cy="39319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可用：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Δv = Isp·g·ln(58/40 t) = 1.03–1.13 km/s（Isp 282–311 s）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需求：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再入 0.5–0.8 ＋ 末段 0.2–0.3 ＋ 余量 ~0.1 ⇒ 0.8–1.2 km/s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结论 ①：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远海模式闭合（上限偏紧）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结论 ②：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返场模式 1.1–1.7 km/s —— 不拨款；备份腿式 24 t 储备（≈1.38 km/s）亦仅勉强靠边 ⇒ 架构仅远海</a:t>
            </a:r>
          </a:p>
          <a:p>
            <a:pPr algn="l">
              <a:spcAft>
                <a:spcPts val="800"/>
              </a:spcAft>
            </a:pPr>
            <a:r>
              <a:rPr sz="1300" b="1" i="0">
                <a:solidFill>
                  <a:srgbClr val="E0561E"/>
                </a:solidFill>
                <a:latin typeface="Microsoft YaHei"/>
                <a:ea typeface="Microsoft YaHei"/>
                <a:cs typeface="Microsoft YaHei"/>
              </a:rPr>
              <a:t>▪ </a:t>
            </a: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若需变更：</a:t>
            </a:r>
            <a:r>
              <a:rPr sz="130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触发 Day 4 §6.5 敏感性规则（Δm_上升推进剂 = −Δm_干重）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5257800"/>
            <a:ext cx="3977639" cy="868680"/>
          </a:xfrm>
          <a:prstGeom prst="roundRect">
            <a:avLst>
              <a:gd name="adj" fmla="val 6000"/>
            </a:avLst>
          </a:prstGeom>
          <a:solidFill>
            <a:srgbClr val="E8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73568" y="5394960"/>
            <a:ext cx="361188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 i="0">
                <a:solidFill>
                  <a:srgbClr val="2E8B57"/>
                </a:solidFill>
                <a:latin typeface="Microsoft YaHei"/>
                <a:ea typeface="Microsoft YaHei"/>
                <a:cs typeface="Microsoft YaHei"/>
              </a:rPr>
              <a:t>储备不仅够用，而且定义了任务形态：</a:t>
            </a:r>
          </a:p>
          <a:p>
            <a:pPr algn="l">
              <a:spcAft>
                <a:spcPts val="200"/>
              </a:spcAft>
            </a:pP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无返场点火、无悬停徘徊。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复飞运营：检查 · 翻修 · 寿命目标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6 可重复使用策略（回收概念）· 2026-07-16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9" name="Chevron 8"/>
          <p:cNvSpPr/>
          <p:nvPr/>
        </p:nvSpPr>
        <p:spPr>
          <a:xfrm>
            <a:off x="320040" y="1188720"/>
            <a:ext cx="1700784" cy="777240"/>
          </a:xfrm>
          <a:prstGeom prst="chevron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接收·安全处理</a:t>
            </a:r>
          </a:p>
        </p:txBody>
      </p:sp>
      <p:sp>
        <p:nvSpPr>
          <p:cNvPr id="10" name="Chevron 9"/>
          <p:cNvSpPr/>
          <p:nvPr/>
        </p:nvSpPr>
        <p:spPr>
          <a:xfrm>
            <a:off x="1993392" y="1188720"/>
            <a:ext cx="1700784" cy="777240"/>
          </a:xfrm>
          <a:prstGeom prst="chevron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复用护照下载</a:t>
            </a:r>
          </a:p>
        </p:txBody>
      </p:sp>
      <p:sp>
        <p:nvSpPr>
          <p:cNvPr id="11" name="Chevron 10"/>
          <p:cNvSpPr/>
          <p:nvPr/>
        </p:nvSpPr>
        <p:spPr>
          <a:xfrm>
            <a:off x="3666744" y="1188720"/>
            <a:ext cx="1700784" cy="777240"/>
          </a:xfrm>
          <a:prstGeom prst="chevron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定向检查(UT/X射线)</a:t>
            </a:r>
          </a:p>
        </p:txBody>
      </p:sp>
      <p:sp>
        <p:nvSpPr>
          <p:cNvPr id="12" name="Chevron 11"/>
          <p:cNvSpPr/>
          <p:nvPr/>
        </p:nvSpPr>
        <p:spPr>
          <a:xfrm>
            <a:off x="5340096" y="1188720"/>
            <a:ext cx="1700784" cy="777240"/>
          </a:xfrm>
          <a:prstGeom prst="chevron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发动机检查·积碳管理</a:t>
            </a:r>
          </a:p>
        </p:txBody>
      </p:sp>
      <p:sp>
        <p:nvSpPr>
          <p:cNvPr id="13" name="Chevron 12"/>
          <p:cNvSpPr/>
          <p:nvPr/>
        </p:nvSpPr>
        <p:spPr>
          <a:xfrm>
            <a:off x="7013448" y="1188720"/>
            <a:ext cx="1700784" cy="777240"/>
          </a:xfrm>
          <a:prstGeom prst="chevron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更换耗材(靴/TPS/垫)</a:t>
            </a:r>
          </a:p>
        </p:txBody>
      </p:sp>
      <p:sp>
        <p:nvSpPr>
          <p:cNvPr id="14" name="Chevron 13"/>
          <p:cNvSpPr/>
          <p:nvPr/>
        </p:nvSpPr>
        <p:spPr>
          <a:xfrm>
            <a:off x="8686800" y="1188720"/>
            <a:ext cx="1700784" cy="777240"/>
          </a:xfrm>
          <a:prstGeom prst="chevron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传感器校准·检漏</a:t>
            </a:r>
          </a:p>
        </p:txBody>
      </p:sp>
      <p:sp>
        <p:nvSpPr>
          <p:cNvPr id="15" name="Chevron 14"/>
          <p:cNvSpPr/>
          <p:nvPr/>
        </p:nvSpPr>
        <p:spPr>
          <a:xfrm>
            <a:off x="10360152" y="1188720"/>
            <a:ext cx="1700784" cy="777240"/>
          </a:xfrm>
          <a:prstGeom prst="chevron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0" bIns="0"/>
          <a:lstStyle/>
          <a:p>
            <a:pPr algn="ctr"/>
            <a:r>
              <a:rPr sz="10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静态点火 ⇒ 放行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2331720"/>
          <a:ext cx="11201399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00350"/>
                <a:gridCol w="3661996"/>
                <a:gridCol w="4739053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目标值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外部锚点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助推器设计寿命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 次（冲刺目标 40 次）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Block 5 级：折旧 25 / 工程目标 40 / 纪录 36 [1][2][4]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舰队频次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≥ 10 次/年（Day 1 要求）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165 次/年（2025 现役量级）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周转时间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早期 ≤30 天；成熟 ≤14 天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现役均值 ~40 天、最优 &lt;3 周 [2]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翻修成本限额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$5M/次（Day 1 模型）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对照 ~$30 万级基准 [1] ⇒ Day 8 校准项 V-8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现役助推器数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2–3 枚轮换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10×30/365 ≈ 0.8 ⇒ 含损耗裕度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502920" y="5257800"/>
            <a:ext cx="11201400" cy="914400"/>
          </a:xfrm>
          <a:prstGeom prst="roundRect">
            <a:avLst>
              <a:gd name="adj" fmla="val 6000"/>
            </a:avLst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376672"/>
            <a:ext cx="10972800" cy="6858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复用护照（Day 4 §3.2 设计特性）：</a:t>
            </a:r>
            <a:r>
              <a:rPr sz="12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逐飞次记录应变/热/加速度历史、捕获载荷重构、发动机复点燃史——把“全面拆解”变为“定向检查”：超限区检查、其余放行。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1148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失效模式登记与验证移交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274320"/>
            <a:ext cx="329184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20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Risk &amp; V&amp;V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74536"/>
            <a:ext cx="86868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可重复使用运载火箭 AI 协同设计暑期课程 · Day 6 可重复使用策略（回收概念）· 2026-07-16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74536"/>
            <a:ext cx="64008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spcAft>
                <a:spcPts val="200"/>
              </a:spcAft>
            </a:pPr>
            <a:r>
              <a:rPr sz="1050" b="0" i="0">
                <a:solidFill>
                  <a:srgbClr val="5B6670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115568"/>
          <a:ext cx="11201397" cy="397763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2510"/>
                <a:gridCol w="2993477"/>
                <a:gridCol w="3186605"/>
                <a:gridCol w="3283168"/>
                <a:gridCol w="965637"/>
              </a:tblGrid>
              <a:tr h="497204"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编号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失效模式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 / 理由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设计缓解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50" b="1" i="0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</a:t>
                      </a:r>
                    </a:p>
                  </a:txBody>
                  <a:tcPr marL="63500" marR="50800" marT="19050" marB="19050" anchor="ctr">
                    <a:solidFill>
                      <a:srgbClr val="16324F"/>
                    </a:solidFill>
                  </a:tcPr>
                </a:tc>
              </a:tr>
              <a:tr h="49720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F-1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C0392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末段点火异常（点火/推力行为）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朱雀三号、长征十二号A（2025-12）均失利于此 [14]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复点燃合格化；避船弹道；缓冲垫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V-2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</a:tr>
              <a:tr h="49720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F-2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横向偏差超出捕获窗口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风场、导航误差、船体运动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船端相对导航；走廊控制；窗口设计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V-4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</a:tr>
              <a:tr h="49720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F-3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捕获速度超限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点火过晚/推力不足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向上节流余量；阻尼容量；90→563 kJ 能量图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V-2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</a:tr>
              <a:tr h="49720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F-4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非对称挂接（2–3 耳）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捕获瞬间姿态/角速度误差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耳几何；捕获环分配；FBG 见证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V-5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</a:tr>
              <a:tr h="49720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F-5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捕获耳磨损/啃伤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重复滑移接触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可更换磨损靴；护照阈值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V-6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</a:tr>
              <a:tr h="497204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F-6/7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壳体过载 · 沉降供给扰动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集中捕获力；低液位晃动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局部等网格；挡板/防涡器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V-5/V-2</a:t>
                      </a:r>
                    </a:p>
                  </a:txBody>
                  <a:tcPr marL="63500" marR="50800" marT="19050" marB="19050" anchor="ctr">
                    <a:solidFill>
                      <a:srgbClr val="EEF3F8"/>
                    </a:solidFill>
                  </a:tcPr>
                </a:tc>
              </a:tr>
              <a:tr h="497211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16324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F-8/9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捕获失败落水 · 海况不可用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非正常接触；气象窗口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缓冲垫；海况 ≤4 假设（4 m 浪级船已验证 [14]）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33475B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Day 8</a:t>
                      </a:r>
                    </a:p>
                  </a:txBody>
                  <a:tcPr marL="63500" marR="50800" marT="19050" marB="190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502920" y="5257800"/>
            <a:ext cx="11201400" cy="914400"/>
          </a:xfrm>
          <a:prstGeom prst="roundRect">
            <a:avLst>
              <a:gd name="adj" fmla="val 6000"/>
            </a:avLst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5358384"/>
            <a:ext cx="1097280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 i="0">
                <a:solidFill>
                  <a:srgbClr val="16324F"/>
                </a:solidFill>
                <a:latin typeface="Microsoft YaHei"/>
                <a:ea typeface="Microsoft YaHei"/>
                <a:cs typeface="Microsoft YaHei"/>
              </a:rPr>
              <a:t>验证移交（报告表 8）：</a:t>
            </a:r>
            <a:r>
              <a:rPr sz="1150" b="0" i="0">
                <a:solidFill>
                  <a:srgbClr val="33475B"/>
                </a:solidFill>
                <a:latin typeface="Microsoft YaHei"/>
                <a:ea typeface="Microsoft YaHei"/>
                <a:cs typeface="Microsoft YaHei"/>
              </a:rPr>
              <a:t>V-1 — 已由 Day 7 模型提供初值（T+142 s · 66.5 km · 1,892 m/s · γ 41°）；V-2 点火窗口与节流下限判明 · V-3 悬吊稳定性 · V-4 散布蒙特卡洛 · V-5 捕获带结构筛查 · V-6 磨损靴寿命 ⇒ Day 7/8；V-7 海况可用性 · V-8 翻修成本校准 ⇒ Day 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32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417320"/>
            <a:ext cx="12191695" cy="45720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最终结论：远海 · 混合捕获 · 动力垂直回收 —— 回收侧闭合且被验证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783080"/>
            <a:ext cx="146304" cy="731520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27432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质量闭合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1801368"/>
            <a:ext cx="813816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相对着陆腿备份：回收硬件 −2.5 t、储备 −6.0 t（固定 600 t GLOM 内再投资于上升推进剂与裕度）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15768"/>
            <a:ext cx="146304" cy="731520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715768"/>
            <a:ext cx="27432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推进剂闭合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734056"/>
            <a:ext cx="813816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18 t 储备 ⇒ 1.03–1.13 km/s 可用，对远海需求 0.8–1.2 km/s；返场模式被储备与 15%/30% 处罚双重否决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648456"/>
            <a:ext cx="146304" cy="731520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648456"/>
            <a:ext cx="27432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需求可追溯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3666744"/>
            <a:ext cx="813816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贯穿 Day 1（20 t SSO / &lt;$30M / ≥10 次/年）与 Day 3（深度节流、重启、复用耐受）的全部约束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581144"/>
            <a:ext cx="146304" cy="731520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4581144"/>
            <a:ext cx="27432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外部验证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599431"/>
            <a:ext cx="813816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长征十号B 网捕（2026-07-10，直接先例，~6 min、远海 430 km）＋ 星舰 F5 塔捕（减重逻辑）＋ Block 5 运营经济（寿命与翻修基准）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513831"/>
            <a:ext cx="146304" cy="731520"/>
          </a:xfrm>
          <a:prstGeom prst="rect">
            <a:avLst/>
          </a:prstGeom>
          <a:solidFill>
            <a:srgbClr val="E05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513831"/>
            <a:ext cx="2743200" cy="7315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风险聚焦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5532119"/>
            <a:ext cx="8138160" cy="8229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两次 2025-12 末段点火失利案例 → F-1 置顶；避船弹道与缓冲垫作内置安全特性；任务成功与回收成功解耦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742432"/>
            <a:ext cx="10972800" cy="914400"/>
          </a:xfrm>
          <a:prstGeom prst="roundRect">
            <a:avLst>
              <a:gd name="adj" fmla="val 6000"/>
            </a:avLst>
          </a:prstGeom>
          <a:solidFill>
            <a:srgbClr val="1F4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833872"/>
            <a:ext cx="10607040" cy="7772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Day 7 校勘（2026-07-17）：</a:t>
            </a:r>
            <a:r>
              <a:rPr sz="115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600 t 文档化架构对 500×500 任务缺口 2,088 m/s（600 t 复用能力 ≈6.6 t；闭合 = 架构重标定 ≈802 t 或载荷调整 ⇒ Day 8 决策）——不影响本页回收侧结论。</a:t>
            </a:r>
          </a:p>
          <a:p>
            <a:pPr algn="l">
              <a:spcAft>
                <a:spcPts val="300"/>
              </a:spcAft>
            </a:pPr>
            <a:r>
              <a:rPr sz="1200" b="1" i="0">
                <a:solidFill>
                  <a:srgbClr val="F2A33C"/>
                </a:solidFill>
                <a:latin typeface="Microsoft YaHei"/>
                <a:ea typeface="Microsoft YaHei"/>
                <a:cs typeface="Microsoft YaHei"/>
              </a:rPr>
              <a:t>移交：</a:t>
            </a:r>
            <a:r>
              <a:rPr sz="1150" b="0" i="0">
                <a:solidFill>
                  <a:srgbClr val="BFD7EA"/>
                </a:solidFill>
                <a:latin typeface="Microsoft YaHei"/>
                <a:ea typeface="Microsoft YaHei"/>
                <a:cs typeface="Microsoft YaHei"/>
              </a:rPr>
              <a:t>V-1 已初值 · V-2…V-6 → Day 7（设计迭代）· V-7/V-8 → Day 8（可靠性与经济性）｜ v1.1 校勘版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